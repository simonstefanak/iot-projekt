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5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dvolená sekcia" id="{B4CAB0E4-16E4-4E5E-A365-7D0384B20F81}">
          <p14:sldIdLst>
            <p14:sldId id="256"/>
            <p14:sldId id="257"/>
            <p14:sldId id="261"/>
            <p14:sldId id="258"/>
            <p14:sldId id="259"/>
            <p14:sldId id="265"/>
            <p14:sldId id="264"/>
            <p14:sldId id="26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23F75-2CE5-4BD6-9CB2-85B8ED4C0827}" v="509" dt="2026-06-01T18:02:39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Upravte štýl predlohy podnadpisov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20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502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970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661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072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659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29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0876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317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02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689806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524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>
            <a:spLocks noGrp="1"/>
          </p:cNvSpPr>
          <p:nvPr/>
        </p:nvSpPr>
        <p:spPr>
          <a:xfrm>
            <a:off x="457200" y="1600000"/>
            <a:ext cx="152400" cy="2600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62000" y="1600000"/>
            <a:ext cx="10800000" cy="2200000"/>
          </a:xfrm>
        </p:spPr>
        <p:txBody>
          <a:bodyPr anchor="ctr"/>
          <a:lstStyle/>
          <a:p>
            <a:pPr algn="l"/>
            <a:r>
              <a:rPr lang="sk-SK" sz="3800" b="1" dirty="0">
                <a:solidFill>
                  <a:srgbClr val="FFFFFF"/>
                </a:solidFill>
                <a:latin typeface="Calibri"/>
              </a:rPr>
              <a:t>Ladička na ele. gitaru postavená na ESP32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10800000" cy="700000"/>
          </a:xfrm>
        </p:spPr>
        <p:txBody>
          <a:bodyPr anchor="ctr"/>
          <a:lstStyle/>
          <a:p>
            <a:pPr algn="l"/>
            <a:r>
              <a:rPr lang="sk-SK" sz="2000" dirty="0">
                <a:solidFill>
                  <a:srgbClr val="00B4D8"/>
                </a:solidFill>
                <a:latin typeface="Calibri"/>
              </a:rPr>
              <a:t>Šimon Štefaňák  •  Filip Rechtorík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52642"/>
          </a:solidFill>
        </p:spPr>
        <p:txBody>
          <a:bodyPr/>
          <a:lstStyle/>
          <a:p>
            <a:endParaRPr/>
          </a:p>
        </p:txBody>
      </p:sp>
      <p:sp>
        <p:nvSpPr>
          <p:cNvPr id="11" name="TitleAccent"/>
          <p:cNvSpPr>
            <a:spLocks noGrp="1"/>
          </p:cNvSpPr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400" cy="1143000"/>
          </a:xfrm>
        </p:spPr>
        <p:txBody>
          <a:bodyPr anchor="ctr"/>
          <a:lstStyle/>
          <a:p>
            <a:pPr algn="l"/>
            <a:r>
              <a:rPr lang="sk-SK" sz="2800" b="1" dirty="0">
                <a:solidFill>
                  <a:srgbClr val="FFFFFF"/>
                </a:solidFill>
                <a:latin typeface="Calibri"/>
              </a:rPr>
              <a:t>Popis a cieľ práce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371600"/>
            <a:ext cx="11277600" cy="4800000"/>
          </a:xfrm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buNone/>
            </a:pPr>
            <a:r>
              <a:rPr lang="sk-SK" sz="2400" dirty="0">
                <a:solidFill>
                  <a:srgbClr val="E0E0E0"/>
                </a:solidFill>
                <a:latin typeface="Calibri"/>
              </a:rPr>
              <a:t>Vytvoré čítačku frekvencie (ladičku) pomocou ESP32 s funkciou posielania dát cez ESP server na stránku s testom a ukazovateľom odchýľky naladenia strún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Bg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52642"/>
          </a:solidFill>
        </p:spPr>
        <p:txBody>
          <a:bodyPr/>
          <a:lstStyle/>
          <a:p>
            <a:endParaRPr/>
          </a:p>
        </p:txBody>
      </p:sp>
      <p:sp>
        <p:nvSpPr>
          <p:cNvPr id="91" name="TitleAccent"/>
          <p:cNvSpPr>
            <a:spLocks noGrp="1"/>
          </p:cNvSpPr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400" cy="1143000"/>
          </a:xfrm>
        </p:spPr>
        <p:txBody>
          <a:bodyPr anchor="ctr"/>
          <a:lstStyle/>
          <a:p>
            <a:pPr algn="l"/>
            <a:r>
              <a:rPr lang="sk-SK" sz="2800" b="1" dirty="0">
                <a:solidFill>
                  <a:srgbClr val="FFFFFF"/>
                </a:solidFill>
                <a:latin typeface="Calibri"/>
              </a:rPr>
              <a:t>Použité diely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95400"/>
            <a:ext cx="11277600" cy="5200000"/>
          </a:xfrm>
        </p:spPr>
        <p:txBody>
          <a:bodyPr vert="horz" lIns="91440" tIns="91440" rIns="91440" bIns="91440" rtlCol="0" anchor="t">
            <a:normAutofit/>
          </a:bodyPr>
          <a:lstStyle/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2x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JACK 6.3 ONA mono PAN JC-116</a:t>
            </a:r>
          </a:p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1x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LM358 OPAMP</a:t>
            </a:r>
          </a:p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3x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100k Rezistor</a:t>
            </a:r>
          </a:p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1x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1k Rezistor</a:t>
            </a:r>
          </a:p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2x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100nF Kondenzator</a:t>
            </a:r>
          </a:p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1x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ESP32 WiFi + BT 38pin</a:t>
            </a:r>
          </a:p>
          <a:p>
            <a:pPr algn="l" marL="342900" indent="-342900">
              <a:buChar char="▶"/>
            </a:pPr>
            <a:r>
              <a:rPr lang="sk-SK" sz="2000" dirty="0">
                <a:solidFill>
                  <a:srgbClr val="00B4D8"/>
                </a:solidFill>
                <a:latin typeface="Calibri"/>
              </a:rPr>
              <a:t xml:space="preserve">1x </a:t>
            </a:r>
            <a:r>
              <a:rPr lang="sk-SK" sz="2000" dirty="0">
                <a:solidFill>
                  <a:srgbClr val="E0E0E0"/>
                </a:solidFill>
                <a:latin typeface="Calibri"/>
              </a:rPr>
              <a:t>fullsize breadboard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Bg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52642"/>
          </a:solidFill>
        </p:spPr>
        <p:txBody>
          <a:bodyPr/>
          <a:lstStyle/>
          <a:p>
            <a:endParaRPr/>
          </a:p>
        </p:txBody>
      </p:sp>
      <p:sp>
        <p:nvSpPr>
          <p:cNvPr id="91" name="TitleAccent"/>
          <p:cNvSpPr>
            <a:spLocks noGrp="1"/>
          </p:cNvSpPr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400" cy="1143000"/>
          </a:xfrm>
        </p:spPr>
        <p:txBody>
          <a:bodyPr anchor="ctr"/>
          <a:lstStyle/>
          <a:p>
            <a:pPr algn="l"/>
            <a:r>
              <a:rPr lang="sk-SK" sz="2800" b="1" dirty="0">
                <a:solidFill>
                  <a:srgbClr val="FFFFFF"/>
                </a:solidFill>
                <a:latin typeface="Calibri"/>
              </a:rPr>
              <a:t>Schéma</a:t>
            </a:r>
          </a:p>
        </p:txBody>
      </p:sp>
      <p:pic>
        <p:nvPicPr>
          <p:cNvPr id="4" name="Schema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154" y="1250000"/>
            <a:ext cx="10511692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Bg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52642"/>
          </a:solidFill>
        </p:spPr>
        <p:txBody>
          <a:bodyPr/>
          <a:lstStyle/>
          <a:p>
            <a:endParaRPr/>
          </a:p>
        </p:txBody>
      </p:sp>
      <p:sp>
        <p:nvSpPr>
          <p:cNvPr id="91" name="TitleAccent"/>
          <p:cNvSpPr>
            <a:spLocks noGrp="1"/>
          </p:cNvSpPr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400" cy="1143000"/>
          </a:xfrm>
        </p:spPr>
        <p:txBody>
          <a:bodyPr anchor="ctr"/>
          <a:lstStyle/>
          <a:p>
            <a:pPr algn="l"/>
            <a:r>
              <a:rPr lang="sk-SK" sz="2800" b="1" dirty="0">
                <a:solidFill>
                  <a:srgbClr val="FFFFFF"/>
                </a:solidFill>
                <a:latin typeface="Calibri"/>
              </a:rPr>
              <a:t>Jednotlivé role a postup práce</a:t>
            </a:r>
          </a:p>
        </p:txBody>
      </p:sp>
      <p:sp>
        <p:nvSpPr>
          <p:cNvPr id="20" name="CardFilip"/>
          <p:cNvSpPr>
            <a:spLocks noGrp="1"/>
          </p:cNvSpPr>
          <p:nvPr/>
        </p:nvSpPr>
        <p:spPr>
          <a:xfrm>
            <a:off x="457200" y="1295400"/>
            <a:ext cx="5400000" cy="5000000"/>
          </a:xfrm>
          <a:prstGeom prst="rect">
            <a:avLst/>
          </a:prstGeom>
          <a:solidFill>
            <a:srgbClr val="152642"/>
          </a:solidFill>
        </p:spPr>
        <p:txBody>
          <a:bodyPr/>
          <a:lstStyle/>
          <a:p>
            <a:endParaRPr/>
          </a:p>
        </p:txBody>
      </p:sp>
      <p:sp>
        <p:nvSpPr>
          <p:cNvPr id="21" name="FilipAccent"/>
          <p:cNvSpPr>
            <a:spLocks noGrp="1"/>
          </p:cNvSpPr>
          <p:nvPr/>
        </p:nvSpPr>
        <p:spPr>
          <a:xfrm>
            <a:off x="457200" y="1295400"/>
            <a:ext cx="5400000" cy="76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2" name="FilipText"/>
          <p:cNvSpPr txBox="1"/>
          <p:nvPr/>
        </p:nvSpPr>
        <p:spPr>
          <a:xfrm>
            <a:off x="609600" y="1447800"/>
            <a:ext cx="5100000" cy="4700000"/>
          </a:xfrm>
          <a:prstGeom prst="rect">
            <a:avLst/>
          </a:prstGeom>
          <a:noFill/>
        </p:spPr>
        <p:txBody>
          <a:bodyPr lIns="91440" tIns="91440" rIns="91440" bIns="91440" anchor="t">
            <a:normAutofit/>
          </a:bodyPr>
          <a:lstStyle/>
          <a:p>
            <a:pPr algn="l">
              <a:buNone/>
            </a:pPr>
            <a:r>
              <a:rPr lang="sk-SK" sz="2200" b="1" dirty="0">
                <a:solidFill>
                  <a:srgbClr val="00B4D8"/>
                </a:solidFill>
                <a:latin typeface="Calibri"/>
              </a:rPr>
              <a:t>Filip</a:t>
            </a:r>
          </a:p>
          <a:p>
            <a:pPr algn="l" marL="228600" indent="-228600">
              <a:buChar char="•"/>
            </a:pPr>
            <a:r>
              <a:rPr lang="sk-SK" sz="1800" dirty="0">
                <a:solidFill>
                  <a:srgbClr val="E0E0E0"/>
                </a:solidFill>
                <a:latin typeface="Calibri"/>
              </a:rPr>
              <a:t>plán a zapojenie obvodu</a:t>
            </a:r>
          </a:p>
          <a:p>
            <a:pPr algn="l" marL="228600" indent="-228600">
              <a:buChar char="•"/>
            </a:pPr>
            <a:r>
              <a:rPr lang="sk-SK" sz="1800" dirty="0">
                <a:solidFill>
                  <a:srgbClr val="E0E0E0"/>
                </a:solidFill>
                <a:latin typeface="Calibri"/>
              </a:rPr>
              <a:t>program na zachytenie a rozpoznanie frekvencií</a:t>
            </a:r>
          </a:p>
          <a:p>
            <a:pPr algn="l" marL="228600" indent="-228600">
              <a:buChar char="•"/>
            </a:pPr>
            <a:r>
              <a:rPr lang="sk-SK" sz="1800" dirty="0">
                <a:solidFill>
                  <a:srgbClr val="E0E0E0"/>
                </a:solidFill>
                <a:latin typeface="Calibri"/>
              </a:rPr>
              <a:t>dizájn fyzických komponentov</a:t>
            </a:r>
          </a:p>
        </p:txBody>
      </p:sp>
      <p:sp>
        <p:nvSpPr>
          <p:cNvPr id="30" name="CardSimon"/>
          <p:cNvSpPr>
            <a:spLocks noGrp="1"/>
          </p:cNvSpPr>
          <p:nvPr/>
        </p:nvSpPr>
        <p:spPr>
          <a:xfrm>
            <a:off x="6334800" y="1295400"/>
            <a:ext cx="5400000" cy="5000000"/>
          </a:xfrm>
          <a:prstGeom prst="rect">
            <a:avLst/>
          </a:prstGeom>
          <a:solidFill>
            <a:srgbClr val="152642"/>
          </a:solidFill>
        </p:spPr>
        <p:txBody>
          <a:bodyPr/>
          <a:lstStyle/>
          <a:p>
            <a:endParaRPr/>
          </a:p>
        </p:txBody>
      </p:sp>
      <p:sp>
        <p:nvSpPr>
          <p:cNvPr id="31" name="SimonAccent"/>
          <p:cNvSpPr>
            <a:spLocks noGrp="1"/>
          </p:cNvSpPr>
          <p:nvPr/>
        </p:nvSpPr>
        <p:spPr>
          <a:xfrm>
            <a:off x="6334800" y="1295400"/>
            <a:ext cx="5400000" cy="76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32" name="SimonText"/>
          <p:cNvSpPr txBox="1"/>
          <p:nvPr/>
        </p:nvSpPr>
        <p:spPr>
          <a:xfrm>
            <a:off x="6487200" y="1447800"/>
            <a:ext cx="5100000" cy="4700000"/>
          </a:xfrm>
          <a:prstGeom prst="rect">
            <a:avLst/>
          </a:prstGeom>
          <a:noFill/>
        </p:spPr>
        <p:txBody>
          <a:bodyPr lIns="91440" tIns="91440" rIns="91440" bIns="91440" anchor="t">
            <a:normAutofit/>
          </a:bodyPr>
          <a:lstStyle/>
          <a:p>
            <a:pPr algn="l">
              <a:buNone/>
            </a:pPr>
            <a:r>
              <a:rPr lang="sk-SK" sz="2200" b="1" dirty="0">
                <a:solidFill>
                  <a:srgbClr val="00B4D8"/>
                </a:solidFill>
                <a:latin typeface="Calibri"/>
              </a:rPr>
              <a:t>Šimon</a:t>
            </a:r>
          </a:p>
          <a:p>
            <a:pPr algn="l" marL="228600" indent="-228600">
              <a:buChar char="•"/>
            </a:pPr>
            <a:r>
              <a:rPr lang="sk-SK" sz="1800" dirty="0">
                <a:solidFill>
                  <a:srgbClr val="E0E0E0"/>
                </a:solidFill>
                <a:latin typeface="Calibri"/>
              </a:rPr>
              <a:t>vytvorenie wifi servera na ESP32</a:t>
            </a:r>
          </a:p>
          <a:p>
            <a:pPr algn="l" marL="228600" indent="-228600">
              <a:buChar char="•"/>
            </a:pPr>
            <a:r>
              <a:rPr lang="sk-SK" sz="1800" dirty="0">
                <a:solidFill>
                  <a:srgbClr val="E0E0E0"/>
                </a:solidFill>
                <a:latin typeface="Calibri"/>
              </a:rPr>
              <a:t>posielanie dát na stránku</a:t>
            </a:r>
          </a:p>
          <a:p>
            <a:pPr algn="l" marL="228600" indent="-228600">
              <a:buChar char="•"/>
            </a:pPr>
            <a:r>
              <a:rPr lang="sk-SK" sz="1800" dirty="0">
                <a:solidFill>
                  <a:srgbClr val="E0E0E0"/>
                </a:solidFill>
                <a:latin typeface="Calibri"/>
              </a:rPr>
              <a:t>test a vituálna ladička na stránke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2258" y="244047"/>
            <a:ext cx="4825022" cy="6381261"/>
          </a:xfrm>
          <a:prstGeom prst="rect">
            <a:avLst/>
          </a:prstGeom>
        </p:spPr>
      </p:pic>
      <p:pic>
        <p:nvPicPr>
          <p:cNvPr id="5" name="Img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01038" y="244230"/>
            <a:ext cx="3669079" cy="6379308"/>
          </a:xfrm>
          <a:prstGeom prst="rect">
            <a:avLst/>
          </a:prstGeom>
        </p:spPr>
      </p:pic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3200000" cy="1000000"/>
          </a:xfrm>
          <a:prstGeom prst="rect">
            <a:avLst/>
          </a:prstGeom>
          <a:solidFill>
            <a:srgbClr val="0D1B2A">
              <a:alpha val="9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itleAccent"/>
          <p:cNvSpPr>
            <a:spLocks noGrp="1"/>
          </p:cNvSpPr>
          <p:nvPr/>
        </p:nvSpPr>
        <p:spPr>
          <a:xfrm>
            <a:off x="0" y="0"/>
            <a:ext cx="76200" cy="1000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152400" y="100000"/>
            <a:ext cx="3000000" cy="800000"/>
          </a:xfrm>
          <a:prstGeom prst="rect">
            <a:avLst/>
          </a:prstGeom>
          <a:noFill/>
        </p:spPr>
        <p:txBody>
          <a:bodyPr lIns="91440" tIns="45720" rIns="91440" bIns="45720" anchor="ctr">
            <a:spAutoFit/>
          </a:bodyPr>
          <a:lstStyle/>
          <a:p>
            <a:pPr algn="l">
              <a:buNone/>
            </a:pPr>
            <a:r>
              <a:rPr lang="sk-SK" sz="2400" b="1" dirty="0">
                <a:solidFill>
                  <a:srgbClr val="FFFFFF"/>
                </a:solidFill>
                <a:latin typeface="Calibri"/>
              </a:rPr>
              <a:t>Prvá kompletná verzia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1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760017" y="252778"/>
            <a:ext cx="4728889" cy="6344262"/>
          </a:xfrm>
          <a:prstGeom prst="rect">
            <a:avLst/>
          </a:prstGeom>
        </p:spPr>
      </p:pic>
      <p:pic>
        <p:nvPicPr>
          <p:cNvPr id="5" name="Img2"/>
          <p:cNvPicPr>
            <a:picLocks noChangeAspect="1"/>
          </p:cNvPicPr>
          <p:nvPr/>
        </p:nvPicPr>
        <p:blipFill>
          <a:blip r:embed="rId3"/>
          <a:srcRect r="190"/>
          <a:stretch>
            <a:fillRect/>
          </a:stretch>
        </p:blipFill>
        <p:spPr>
          <a:xfrm>
            <a:off x="671878" y="254001"/>
            <a:ext cx="4761985" cy="63402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alBar"/>
          <p:cNvSpPr>
            <a:spLocks noGrp="1"/>
          </p:cNvSpPr>
          <p:nvPr/>
        </p:nvSpPr>
        <p:spPr>
          <a:xfrm>
            <a:off x="3657600" y="3200000"/>
            <a:ext cx="4876800" cy="76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2000000"/>
            <a:ext cx="9144000" cy="1524000"/>
          </a:xfrm>
        </p:spPr>
        <p:txBody>
          <a:bodyPr anchor="ctr"/>
          <a:lstStyle/>
          <a:p>
            <a:pPr algn="ctr"/>
            <a:r>
              <a:rPr lang="sk-SK" sz="4400" b="1" dirty="0">
                <a:solidFill>
                  <a:srgbClr val="FFFFFF"/>
                </a:solidFill>
                <a:latin typeface="Calibri"/>
              </a:rPr>
              <a:t>Ďakujeme za pozornosť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700000"/>
            <a:ext cx="9144000" cy="600000"/>
          </a:xfrm>
        </p:spPr>
        <p:txBody>
          <a:bodyPr anchor="ctr"/>
          <a:lstStyle/>
          <a:p>
            <a:pPr algn="ctr"/>
            <a:endParaRPr lang="sk-S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Širokouhlá</PresentationFormat>
  <Paragraphs>0</Paragraphs>
  <Slides>9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0" baseType="lpstr">
      <vt:lpstr>Motív Office</vt:lpstr>
      <vt:lpstr>Ladička na ele. gitaru postavená na ESP32</vt:lpstr>
      <vt:lpstr>Popis a cieľ práce</vt:lpstr>
      <vt:lpstr>Použité diely </vt:lpstr>
      <vt:lpstr>Schéma</vt:lpstr>
      <vt:lpstr>Jednotlivé role a postup práce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162</cp:revision>
  <dcterms:created xsi:type="dcterms:W3CDTF">2026-06-01T15:11:22Z</dcterms:created>
  <dcterms:modified xsi:type="dcterms:W3CDTF">2026-06-01T18:03:49Z</dcterms:modified>
</cp:coreProperties>
</file>