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1700"/>
    <a:srgbClr val="CC2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75"/>
    <p:restoredTop sz="94610"/>
  </p:normalViewPr>
  <p:slideViewPr>
    <p:cSldViewPr snapToGrid="0" snapToObjects="1">
      <p:cViewPr>
        <p:scale>
          <a:sx n="161" d="100"/>
          <a:sy n="161" d="100"/>
        </p:scale>
        <p:origin x="1008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0215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7506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B1700"/>
          </a:solidFill>
          <a:ln w="12700">
            <a:noFill/>
            <a:prstDash val="solid"/>
          </a:ln>
        </p:spPr>
        <p:txBody>
          <a:bodyPr/>
          <a:lstStyle/>
          <a:p>
            <a:endParaRPr lang="en-SK">
              <a:solidFill>
                <a:srgbClr val="FF000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8B1700"/>
          </a:solidFill>
          <a:ln w="12700">
            <a:noFill/>
            <a:prstDash val="solid"/>
          </a:ln>
        </p:spPr>
        <p:txBody>
          <a:bodyPr/>
          <a:lstStyle/>
          <a:p>
            <a:endParaRPr lang="en-SK">
              <a:solidFill>
                <a:srgbClr val="8B17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PROJEKT  ·  ESP32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53312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58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Gitarová</a:t>
            </a:r>
            <a:endParaRPr lang="en-US" sz="5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8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Ladička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Detekcia výšky tónu v reálnom čase  ·  OLED displej  ·  WebSocket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45720" cy="731520"/>
          </a:xfrm>
          <a:prstGeom prst="rect">
            <a:avLst/>
          </a:prstGeom>
          <a:solidFill>
            <a:srgbClr val="CC2200"/>
          </a:solidFill>
          <a:ln w="12700">
            <a:noFill/>
            <a:prstDash val="solid"/>
          </a:ln>
        </p:spPr>
        <p:txBody>
          <a:bodyPr/>
          <a:lstStyle/>
          <a:p>
            <a:endParaRPr lang="en-SK">
              <a:solidFill>
                <a:srgbClr val="8B17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713232" y="39319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" y="4279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 ·  Detekcia  ·  OLED  ·  Hardware</a:t>
            </a:r>
            <a:endParaRPr lang="en-US" sz="10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06FCF9E-FC54-53DC-911B-806D7DE7EEF8}"/>
              </a:ext>
            </a:extLst>
          </p:cNvPr>
          <p:cNvSpPr/>
          <p:nvPr/>
        </p:nvSpPr>
        <p:spPr>
          <a:xfrm>
            <a:off x="3268785" y="3931920"/>
            <a:ext cx="45720" cy="685800"/>
          </a:xfrm>
          <a:prstGeom prst="rect">
            <a:avLst/>
          </a:prstGeom>
          <a:solidFill>
            <a:srgbClr val="CC2200"/>
          </a:solidFill>
          <a:ln w="12700">
            <a:solidFill>
              <a:srgbClr val="8B1700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84330D8-975E-8EEA-01C8-95E31E63C8C6}"/>
              </a:ext>
            </a:extLst>
          </p:cNvPr>
          <p:cNvSpPr/>
          <p:nvPr/>
        </p:nvSpPr>
        <p:spPr>
          <a:xfrm>
            <a:off x="3433377" y="393192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Šimon Štefaňák</a:t>
            </a:r>
            <a:endParaRPr lang="en-US" sz="13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0C4B1D1-8414-BA67-B94D-0D0A58BFC584}"/>
              </a:ext>
            </a:extLst>
          </p:cNvPr>
          <p:cNvSpPr/>
          <p:nvPr/>
        </p:nvSpPr>
        <p:spPr>
          <a:xfrm>
            <a:off x="3433377" y="4242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frontend  ·  UI  ·  WebSocket klient</a:t>
            </a:r>
            <a:endParaRPr lang="en-US" sz="1000" dirty="0"/>
          </a:p>
        </p:txBody>
      </p:sp>
      <p:pic>
        <p:nvPicPr>
          <p:cNvPr id="16" name="Picture 15" descr="A person with long hair playing a guitar&#10;&#10;Description automatically generated">
            <a:extLst>
              <a:ext uri="{FF2B5EF4-FFF2-40B4-BE49-F238E27FC236}">
                <a16:creationId xmlns:a16="http://schemas.microsoft.com/office/drawing/2014/main" id="{C40AD6BE-CB9A-7DA9-F4E5-45301999B2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5000"/>
                    </a14:imgEffect>
                    <a14:imgEffect>
                      <a14:brightnessContrast bright="-1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68686" y="1916408"/>
            <a:ext cx="3175000" cy="3175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B17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čom projekt je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POPIS PRÁCE A PRODUKTU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8B17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3DC006BE-4E4D-357E-83A5-40CE31F91475}"/>
              </a:ext>
            </a:extLst>
          </p:cNvPr>
          <p:cNvSpPr/>
          <p:nvPr/>
        </p:nvSpPr>
        <p:spPr>
          <a:xfrm>
            <a:off x="502920" y="2100834"/>
            <a:ext cx="4023360" cy="182880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blurRad="203200" dist="38100" dir="8100000" algn="bl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en-SK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C108C7D5-FF3C-D21B-2FFB-371165D1E210}"/>
              </a:ext>
            </a:extLst>
          </p:cNvPr>
          <p:cNvSpPr/>
          <p:nvPr/>
        </p:nvSpPr>
        <p:spPr>
          <a:xfrm>
            <a:off x="502920" y="2100834"/>
            <a:ext cx="45720" cy="182880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4959E2D4-0976-3FB2-B4AE-01826F0D6E2A}"/>
              </a:ext>
            </a:extLst>
          </p:cNvPr>
          <p:cNvSpPr/>
          <p:nvPr/>
        </p:nvSpPr>
        <p:spPr>
          <a:xfrm>
            <a:off x="640080" y="217398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Čo to robí</a:t>
            </a:r>
            <a:endParaRPr lang="en-US" sz="1300" dirty="0"/>
          </a:p>
        </p:txBody>
      </p:sp>
      <p:sp>
        <p:nvSpPr>
          <p:cNvPr id="24" name="Shape 6">
            <a:extLst>
              <a:ext uri="{FF2B5EF4-FFF2-40B4-BE49-F238E27FC236}">
                <a16:creationId xmlns:a16="http://schemas.microsoft.com/office/drawing/2014/main" id="{A2878396-B9BE-DD1E-CC59-4592BFFEEB6A}"/>
              </a:ext>
            </a:extLst>
          </p:cNvPr>
          <p:cNvSpPr/>
          <p:nvPr/>
        </p:nvSpPr>
        <p:spPr>
          <a:xfrm>
            <a:off x="640080" y="2558034"/>
            <a:ext cx="365760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A53220AE-C63E-9DBA-513F-3DEEE5148853}"/>
              </a:ext>
            </a:extLst>
          </p:cNvPr>
          <p:cNvSpPr/>
          <p:nvPr/>
        </p:nvSpPr>
        <p:spPr>
          <a:xfrm>
            <a:off x="640080" y="2622042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Ladička zachytáva zvuk gitary, analyzuje frekvenciu tónu a zobrazuje výsledok — notu, oktávu a odchýlku v centoch — na OLED displeji aj v prehliadači cez WebSocket.</a:t>
            </a:r>
            <a:endParaRPr lang="en-US" sz="1100" dirty="0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4B7C62B0-2BB3-9F62-CA0C-A3CE6DFE5CB3}"/>
              </a:ext>
            </a:extLst>
          </p:cNvPr>
          <p:cNvSpPr/>
          <p:nvPr/>
        </p:nvSpPr>
        <p:spPr>
          <a:xfrm>
            <a:off x="4754880" y="2100834"/>
            <a:ext cx="4023360" cy="182880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blurRad="203200" dist="38100" dir="8100000" algn="bl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en-SK"/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7DB6BFCA-372C-6547-A7A7-4485B1358AD7}"/>
              </a:ext>
            </a:extLst>
          </p:cNvPr>
          <p:cNvSpPr/>
          <p:nvPr/>
        </p:nvSpPr>
        <p:spPr>
          <a:xfrm>
            <a:off x="4754880" y="2100834"/>
            <a:ext cx="45720" cy="182880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33FEC2C7-ADD0-2613-48CB-977F3C377B42}"/>
              </a:ext>
            </a:extLst>
          </p:cNvPr>
          <p:cNvSpPr/>
          <p:nvPr/>
        </p:nvSpPr>
        <p:spPr>
          <a:xfrm>
            <a:off x="4892040" y="217398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Výsledok</a:t>
            </a:r>
            <a:endParaRPr lang="en-US" sz="1300" dirty="0"/>
          </a:p>
        </p:txBody>
      </p:sp>
      <p:sp>
        <p:nvSpPr>
          <p:cNvPr id="29" name="Shape 11">
            <a:extLst>
              <a:ext uri="{FF2B5EF4-FFF2-40B4-BE49-F238E27FC236}">
                <a16:creationId xmlns:a16="http://schemas.microsoft.com/office/drawing/2014/main" id="{71ECB769-8D8A-734D-34C2-F888144C787C}"/>
              </a:ext>
            </a:extLst>
          </p:cNvPr>
          <p:cNvSpPr/>
          <p:nvPr/>
        </p:nvSpPr>
        <p:spPr>
          <a:xfrm>
            <a:off x="4892040" y="2558034"/>
            <a:ext cx="365760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3D93212A-8AA6-05F6-DE6B-E6D9B41D3904}"/>
              </a:ext>
            </a:extLst>
          </p:cNvPr>
          <p:cNvSpPr/>
          <p:nvPr/>
        </p:nvSpPr>
        <p:spPr>
          <a:xfrm>
            <a:off x="4892040" y="2622042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Fungujúca stolová ladička napájená cez USB-C. Detekcia prázdnych strún s ~95–99% presnosťou. Zobrazenie v reálnom čase.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B17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čom projekt je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POPIS PRÁCE A PRODUKTU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8B17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  <p:sp>
        <p:nvSpPr>
          <p:cNvPr id="5" name="Shape 13">
            <a:extLst>
              <a:ext uri="{FF2B5EF4-FFF2-40B4-BE49-F238E27FC236}">
                <a16:creationId xmlns:a16="http://schemas.microsoft.com/office/drawing/2014/main" id="{7280BDC9-7188-BFE3-E830-C12A2648E98B}"/>
              </a:ext>
            </a:extLst>
          </p:cNvPr>
          <p:cNvSpPr/>
          <p:nvPr/>
        </p:nvSpPr>
        <p:spPr>
          <a:xfrm>
            <a:off x="502920" y="2077974"/>
            <a:ext cx="4023360" cy="187452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blurRad="203200" dist="38100" dir="8100000" algn="bl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en-SK"/>
          </a:p>
        </p:txBody>
      </p:sp>
      <p:sp>
        <p:nvSpPr>
          <p:cNvPr id="6" name="Shape 14">
            <a:extLst>
              <a:ext uri="{FF2B5EF4-FFF2-40B4-BE49-F238E27FC236}">
                <a16:creationId xmlns:a16="http://schemas.microsoft.com/office/drawing/2014/main" id="{EB158E06-5A3A-ECCF-6EDD-DA9110C60EB3}"/>
              </a:ext>
            </a:extLst>
          </p:cNvPr>
          <p:cNvSpPr/>
          <p:nvPr/>
        </p:nvSpPr>
        <p:spPr>
          <a:xfrm>
            <a:off x="502920" y="2077974"/>
            <a:ext cx="4023360" cy="36576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  <p:sp>
        <p:nvSpPr>
          <p:cNvPr id="7" name="Text 15">
            <a:extLst>
              <a:ext uri="{FF2B5EF4-FFF2-40B4-BE49-F238E27FC236}">
                <a16:creationId xmlns:a16="http://schemas.microsoft.com/office/drawing/2014/main" id="{40C97E7C-923B-A8A1-CBD2-A813CAE4932C}"/>
              </a:ext>
            </a:extLst>
          </p:cNvPr>
          <p:cNvSpPr/>
          <p:nvPr/>
        </p:nvSpPr>
        <p:spPr>
          <a:xfrm>
            <a:off x="640080" y="215112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Filip Rechtorík</a:t>
            </a:r>
            <a:endParaRPr lang="en-US" sz="1250" dirty="0"/>
          </a:p>
        </p:txBody>
      </p:sp>
      <p:sp>
        <p:nvSpPr>
          <p:cNvPr id="8" name="Text 16">
            <a:extLst>
              <a:ext uri="{FF2B5EF4-FFF2-40B4-BE49-F238E27FC236}">
                <a16:creationId xmlns:a16="http://schemas.microsoft.com/office/drawing/2014/main" id="{CC2DFE3E-2464-33D5-8131-CBF6C07B83AE}"/>
              </a:ext>
            </a:extLst>
          </p:cNvPr>
          <p:cNvSpPr/>
          <p:nvPr/>
        </p:nvSpPr>
        <p:spPr>
          <a:xfrm>
            <a:off x="640080" y="248031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 ·  FIRMWARE  ·  AUDIO</a:t>
            </a:r>
            <a:endParaRPr lang="en-US" sz="800" dirty="0"/>
          </a:p>
        </p:txBody>
      </p:sp>
      <p:sp>
        <p:nvSpPr>
          <p:cNvPr id="9" name="Text 17">
            <a:extLst>
              <a:ext uri="{FF2B5EF4-FFF2-40B4-BE49-F238E27FC236}">
                <a16:creationId xmlns:a16="http://schemas.microsoft.com/office/drawing/2014/main" id="{2CC2290B-72FC-80F9-D73F-F0C370409670}"/>
              </a:ext>
            </a:extLst>
          </p:cNvPr>
          <p:cNvSpPr/>
          <p:nvPr/>
        </p:nvSpPr>
        <p:spPr>
          <a:xfrm>
            <a:off x="640080" y="2718054"/>
            <a:ext cx="3749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vstup a op-amp obvod, YIN algoritmus pre detekciu frekvencie, OLED displej (3 obrazovky), správa 6 ladení, footswitch + potenciometer, firmvér ESP32, WiFi + WebSocket prenos dát.</a:t>
            </a:r>
            <a:endParaRPr lang="en-US" sz="1050" dirty="0"/>
          </a:p>
        </p:txBody>
      </p:sp>
      <p:sp>
        <p:nvSpPr>
          <p:cNvPr id="10" name="Shape 18">
            <a:extLst>
              <a:ext uri="{FF2B5EF4-FFF2-40B4-BE49-F238E27FC236}">
                <a16:creationId xmlns:a16="http://schemas.microsoft.com/office/drawing/2014/main" id="{DD34899F-197C-786D-52E7-08B10E7AD1ED}"/>
              </a:ext>
            </a:extLst>
          </p:cNvPr>
          <p:cNvSpPr/>
          <p:nvPr/>
        </p:nvSpPr>
        <p:spPr>
          <a:xfrm>
            <a:off x="4754880" y="2077974"/>
            <a:ext cx="4023360" cy="187452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blurRad="203200" dist="38100" dir="8100000" algn="bl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en-SK"/>
          </a:p>
        </p:txBody>
      </p:sp>
      <p:sp>
        <p:nvSpPr>
          <p:cNvPr id="11" name="Shape 19">
            <a:extLst>
              <a:ext uri="{FF2B5EF4-FFF2-40B4-BE49-F238E27FC236}">
                <a16:creationId xmlns:a16="http://schemas.microsoft.com/office/drawing/2014/main" id="{E46A3850-642A-D38B-A465-2C8B04822964}"/>
              </a:ext>
            </a:extLst>
          </p:cNvPr>
          <p:cNvSpPr/>
          <p:nvPr/>
        </p:nvSpPr>
        <p:spPr>
          <a:xfrm>
            <a:off x="4754880" y="2077974"/>
            <a:ext cx="4023360" cy="36576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  <p:sp>
        <p:nvSpPr>
          <p:cNvPr id="12" name="Text 20">
            <a:extLst>
              <a:ext uri="{FF2B5EF4-FFF2-40B4-BE49-F238E27FC236}">
                <a16:creationId xmlns:a16="http://schemas.microsoft.com/office/drawing/2014/main" id="{74C81578-EC06-5039-A1ED-5E4C93F0C08E}"/>
              </a:ext>
            </a:extLst>
          </p:cNvPr>
          <p:cNvSpPr/>
          <p:nvPr/>
        </p:nvSpPr>
        <p:spPr>
          <a:xfrm>
            <a:off x="4892040" y="215112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Šimon Štefaňák</a:t>
            </a:r>
            <a:endParaRPr lang="en-US" sz="1250" dirty="0"/>
          </a:p>
        </p:txBody>
      </p:sp>
      <p:sp>
        <p:nvSpPr>
          <p:cNvPr id="13" name="Text 21">
            <a:extLst>
              <a:ext uri="{FF2B5EF4-FFF2-40B4-BE49-F238E27FC236}">
                <a16:creationId xmlns:a16="http://schemas.microsoft.com/office/drawing/2014/main" id="{D9B50864-80EA-09B7-B34E-A2C1A90030A1}"/>
              </a:ext>
            </a:extLst>
          </p:cNvPr>
          <p:cNvSpPr/>
          <p:nvPr/>
        </p:nvSpPr>
        <p:spPr>
          <a:xfrm>
            <a:off x="4892040" y="248031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FRONTEND  ·  UI  ·  WEBSOCKET</a:t>
            </a:r>
            <a:endParaRPr lang="en-US" sz="800" dirty="0"/>
          </a:p>
        </p:txBody>
      </p:sp>
      <p:sp>
        <p:nvSpPr>
          <p:cNvPr id="14" name="Text 22">
            <a:extLst>
              <a:ext uri="{FF2B5EF4-FFF2-40B4-BE49-F238E27FC236}">
                <a16:creationId xmlns:a16="http://schemas.microsoft.com/office/drawing/2014/main" id="{C90234C8-9EEC-13B0-702A-F854C62D6342}"/>
              </a:ext>
            </a:extLst>
          </p:cNvPr>
          <p:cNvSpPr/>
          <p:nvPr/>
        </p:nvSpPr>
        <p:spPr>
          <a:xfrm>
            <a:off x="4892040" y="2718054"/>
            <a:ext cx="3749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Webový frontend zobrazujúci dáta z ESP32 v reálnom čase cez WebSocket — nota, oktáva, odchýlka v centoch, vizualizácia pre hráča v prehliadači.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599126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B17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KOMPONENTY A ZAPOJENIE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023360" cy="5486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blurRad="203200" dist="38100" dir="8100000" algn="bl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en-SK"/>
          </a:p>
        </p:txBody>
      </p:sp>
      <p:sp>
        <p:nvSpPr>
          <p:cNvPr id="6" name="Text 4"/>
          <p:cNvSpPr/>
          <p:nvPr/>
        </p:nvSpPr>
        <p:spPr>
          <a:xfrm>
            <a:off x="548640" y="11247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 (38-pin)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3807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Hlavný MCU · WiFi · ADC · single-core loop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1682496"/>
            <a:ext cx="4023360" cy="5486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blurRad="203200" dist="38100" dir="8100000" algn="bl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en-SK"/>
          </a:p>
        </p:txBody>
      </p:sp>
      <p:sp>
        <p:nvSpPr>
          <p:cNvPr id="9" name="Text 7"/>
          <p:cNvSpPr/>
          <p:nvPr/>
        </p:nvSpPr>
        <p:spPr>
          <a:xfrm>
            <a:off x="548640" y="172821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SH1106 OLED  1.3"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9842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displej · adresa 0x3C · Adafruit_SH110X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286000"/>
            <a:ext cx="4023360" cy="5486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blurRad="203200" dist="38100" dir="8100000" algn="bl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en-SK"/>
          </a:p>
        </p:txBody>
      </p:sp>
      <p:sp>
        <p:nvSpPr>
          <p:cNvPr id="12" name="Text 10"/>
          <p:cNvSpPr/>
          <p:nvPr/>
        </p:nvSpPr>
        <p:spPr>
          <a:xfrm>
            <a:off x="548640" y="23317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LM358  op-amp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5877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Zosilnenie · bias 1.65V · coupling 100nF · single 5V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889504"/>
            <a:ext cx="4023360" cy="5486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blurRad="203200" dist="38100" dir="8100000" algn="bl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en-SK"/>
          </a:p>
        </p:txBody>
      </p:sp>
      <p:sp>
        <p:nvSpPr>
          <p:cNvPr id="15" name="Text 13"/>
          <p:cNvSpPr/>
          <p:nvPr/>
        </p:nvSpPr>
        <p:spPr>
          <a:xfrm>
            <a:off x="548640" y="29352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Soundking AL-103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1912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Latching footswitch · GPIO32 · INPUT_PULLUP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493008"/>
            <a:ext cx="4023360" cy="5486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blurRad="203200" dist="38100" dir="8100000" algn="bl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en-SK"/>
          </a:p>
        </p:txBody>
      </p:sp>
      <p:sp>
        <p:nvSpPr>
          <p:cNvPr id="18" name="Text 16"/>
          <p:cNvSpPr/>
          <p:nvPr/>
        </p:nvSpPr>
        <p:spPr>
          <a:xfrm>
            <a:off x="548640" y="35387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Potenciometer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7947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Výber ladenia · GPIO35 · analog read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4096512"/>
            <a:ext cx="4023360" cy="5486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blurRad="203200" dist="38100" dir="8100000" algn="bl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en-SK"/>
          </a:p>
        </p:txBody>
      </p:sp>
      <p:sp>
        <p:nvSpPr>
          <p:cNvPr id="21" name="Text 19"/>
          <p:cNvSpPr/>
          <p:nvPr/>
        </p:nvSpPr>
        <p:spPr>
          <a:xfrm>
            <a:off x="548640" y="41422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Rocker switch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3982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Zapínanie displeja · GPIO33 · INPUT_PULLUP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1078992"/>
            <a:ext cx="3977640" cy="379476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blurRad="203200" dist="38100" dir="8100000" algn="bl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en-SK"/>
          </a:p>
        </p:txBody>
      </p:sp>
      <p:sp>
        <p:nvSpPr>
          <p:cNvPr id="24" name="Shape 22"/>
          <p:cNvSpPr/>
          <p:nvPr/>
        </p:nvSpPr>
        <p:spPr>
          <a:xfrm>
            <a:off x="4709160" y="1078992"/>
            <a:ext cx="3977640" cy="457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  <p:sp>
        <p:nvSpPr>
          <p:cNvPr id="25" name="Text 23"/>
          <p:cNvSpPr/>
          <p:nvPr/>
        </p:nvSpPr>
        <p:spPr>
          <a:xfrm>
            <a:off x="4846320" y="1170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Signálový reťazec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 rot="2700000">
            <a:off x="4846320" y="1645920"/>
            <a:ext cx="128016" cy="128016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SK" dirty="0"/>
          </a:p>
        </p:txBody>
      </p:sp>
      <p:sp>
        <p:nvSpPr>
          <p:cNvPr id="27" name="Text 25"/>
          <p:cNvSpPr/>
          <p:nvPr/>
        </p:nvSpPr>
        <p:spPr>
          <a:xfrm>
            <a:off x="5074920" y="15727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Gitara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910328" y="1792224"/>
            <a:ext cx="0" cy="219456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  <p:sp>
        <p:nvSpPr>
          <p:cNvPr id="29" name="Shape 27"/>
          <p:cNvSpPr/>
          <p:nvPr/>
        </p:nvSpPr>
        <p:spPr>
          <a:xfrm>
            <a:off x="4846320" y="2103120"/>
            <a:ext cx="128016" cy="128016"/>
          </a:xfrm>
          <a:prstGeom prst="rect">
            <a:avLst/>
          </a:prstGeom>
          <a:solidFill>
            <a:srgbClr val="8B17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  <p:sp>
        <p:nvSpPr>
          <p:cNvPr id="30" name="Text 28"/>
          <p:cNvSpPr/>
          <p:nvPr/>
        </p:nvSpPr>
        <p:spPr>
          <a:xfrm>
            <a:off x="5074920" y="20299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vstup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910328" y="2249424"/>
            <a:ext cx="0" cy="219456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  <p:sp>
        <p:nvSpPr>
          <p:cNvPr id="32" name="Shape 30"/>
          <p:cNvSpPr/>
          <p:nvPr/>
        </p:nvSpPr>
        <p:spPr>
          <a:xfrm>
            <a:off x="4846320" y="2560320"/>
            <a:ext cx="128016" cy="128016"/>
          </a:xfrm>
          <a:prstGeom prst="rect">
            <a:avLst/>
          </a:prstGeom>
          <a:solidFill>
            <a:srgbClr val="8B17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  <p:sp>
        <p:nvSpPr>
          <p:cNvPr id="33" name="Text 31"/>
          <p:cNvSpPr/>
          <p:nvPr/>
        </p:nvSpPr>
        <p:spPr>
          <a:xfrm>
            <a:off x="5074920" y="24871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LM358  (bias 1.65V · 100nF)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910328" y="2706624"/>
            <a:ext cx="0" cy="219456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  <p:sp>
        <p:nvSpPr>
          <p:cNvPr id="35" name="Shape 33"/>
          <p:cNvSpPr/>
          <p:nvPr/>
        </p:nvSpPr>
        <p:spPr>
          <a:xfrm>
            <a:off x="4846320" y="3017520"/>
            <a:ext cx="128016" cy="128016"/>
          </a:xfrm>
          <a:prstGeom prst="rect">
            <a:avLst/>
          </a:prstGeom>
          <a:solidFill>
            <a:srgbClr val="8B17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  <p:sp>
        <p:nvSpPr>
          <p:cNvPr id="36" name="Text 34"/>
          <p:cNvSpPr/>
          <p:nvPr/>
        </p:nvSpPr>
        <p:spPr>
          <a:xfrm>
            <a:off x="5074920" y="29443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GPIO34 · ADC ESP32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910328" y="3163824"/>
            <a:ext cx="0" cy="219456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  <p:sp>
        <p:nvSpPr>
          <p:cNvPr id="38" name="Shape 36"/>
          <p:cNvSpPr/>
          <p:nvPr/>
        </p:nvSpPr>
        <p:spPr>
          <a:xfrm>
            <a:off x="4846320" y="3474720"/>
            <a:ext cx="128016" cy="128016"/>
          </a:xfrm>
          <a:prstGeom prst="rect">
            <a:avLst/>
          </a:prstGeom>
          <a:solidFill>
            <a:srgbClr val="8B17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  <p:sp>
        <p:nvSpPr>
          <p:cNvPr id="39" name="Text 37"/>
          <p:cNvSpPr/>
          <p:nvPr/>
        </p:nvSpPr>
        <p:spPr>
          <a:xfrm>
            <a:off x="5074920" y="3401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 algoritmus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910328" y="3621024"/>
            <a:ext cx="0" cy="219456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  <p:sp>
        <p:nvSpPr>
          <p:cNvPr id="41" name="Shape 39"/>
          <p:cNvSpPr/>
          <p:nvPr/>
        </p:nvSpPr>
        <p:spPr>
          <a:xfrm rot="2700000">
            <a:off x="4846320" y="3931920"/>
            <a:ext cx="128016" cy="128016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SK" dirty="0"/>
          </a:p>
        </p:txBody>
      </p:sp>
      <p:sp>
        <p:nvSpPr>
          <p:cNvPr id="42" name="Text 40"/>
          <p:cNvSpPr/>
          <p:nvPr/>
        </p:nvSpPr>
        <p:spPr>
          <a:xfrm>
            <a:off x="5074920" y="38587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+ WebSocket výstup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8B17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B17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 Algoritmus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DETEKCIA VÝŠKY TÓNU Z AUDIO SIGNÁLU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58" y="1479042"/>
            <a:ext cx="4023362" cy="2615184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blurRad="203200" dist="38100" dir="8100000" algn="bl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en-SK"/>
          </a:p>
        </p:txBody>
      </p:sp>
      <p:sp>
        <p:nvSpPr>
          <p:cNvPr id="31" name="Shape 29"/>
          <p:cNvSpPr/>
          <p:nvPr/>
        </p:nvSpPr>
        <p:spPr>
          <a:xfrm>
            <a:off x="4709158" y="1479042"/>
            <a:ext cx="4023362" cy="457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  <p:sp>
        <p:nvSpPr>
          <p:cNvPr id="32" name="Text 30"/>
          <p:cNvSpPr/>
          <p:nvPr/>
        </p:nvSpPr>
        <p:spPr>
          <a:xfrm>
            <a:off x="5233234" y="231159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~97%</a:t>
            </a:r>
            <a:endParaRPr lang="en-US" sz="3800" dirty="0"/>
          </a:p>
        </p:txBody>
      </p:sp>
      <p:sp>
        <p:nvSpPr>
          <p:cNvPr id="33" name="Text 31"/>
          <p:cNvSpPr/>
          <p:nvPr/>
        </p:nvSpPr>
        <p:spPr>
          <a:xfrm>
            <a:off x="5233234" y="2988246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presnosť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prázdnych strunách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8B17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  <p:sp>
        <p:nvSpPr>
          <p:cNvPr id="43" name="Shape 32">
            <a:extLst>
              <a:ext uri="{FF2B5EF4-FFF2-40B4-BE49-F238E27FC236}">
                <a16:creationId xmlns:a16="http://schemas.microsoft.com/office/drawing/2014/main" id="{76FE9BC5-CE89-56AF-63F2-BBBD7B2284FB}"/>
              </a:ext>
            </a:extLst>
          </p:cNvPr>
          <p:cNvSpPr/>
          <p:nvPr/>
        </p:nvSpPr>
        <p:spPr>
          <a:xfrm>
            <a:off x="502920" y="1479042"/>
            <a:ext cx="4069080" cy="82296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blurRad="203200" dist="38100" dir="8100000" algn="bl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en-SK"/>
          </a:p>
        </p:txBody>
      </p:sp>
      <p:sp>
        <p:nvSpPr>
          <p:cNvPr id="44" name="Text 33">
            <a:extLst>
              <a:ext uri="{FF2B5EF4-FFF2-40B4-BE49-F238E27FC236}">
                <a16:creationId xmlns:a16="http://schemas.microsoft.com/office/drawing/2014/main" id="{F5CE62AF-A611-0A96-7F48-EC69A9008A05}"/>
              </a:ext>
            </a:extLst>
          </p:cNvPr>
          <p:cNvSpPr/>
          <p:nvPr/>
        </p:nvSpPr>
        <p:spPr>
          <a:xfrm>
            <a:off x="640080" y="154305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</a:t>
            </a:r>
            <a:endParaRPr lang="en-US" sz="1000" dirty="0"/>
          </a:p>
        </p:txBody>
      </p:sp>
      <p:sp>
        <p:nvSpPr>
          <p:cNvPr id="45" name="Text 34">
            <a:extLst>
              <a:ext uri="{FF2B5EF4-FFF2-40B4-BE49-F238E27FC236}">
                <a16:creationId xmlns:a16="http://schemas.microsoft.com/office/drawing/2014/main" id="{C5B27C8E-A95A-790B-AED2-E1B281D8A99C}"/>
              </a:ext>
            </a:extLst>
          </p:cNvPr>
          <p:cNvSpPr/>
          <p:nvPr/>
        </p:nvSpPr>
        <p:spPr>
          <a:xfrm>
            <a:off x="640080" y="1799082"/>
            <a:ext cx="3844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Alain de Cheveigné a Hideki Kawahara — publikovaný 2002 v Journal of the Acoustical Society of America.</a:t>
            </a:r>
            <a:endParaRPr lang="en-US" sz="950" dirty="0"/>
          </a:p>
        </p:txBody>
      </p:sp>
      <p:sp>
        <p:nvSpPr>
          <p:cNvPr id="46" name="Shape 35">
            <a:extLst>
              <a:ext uri="{FF2B5EF4-FFF2-40B4-BE49-F238E27FC236}">
                <a16:creationId xmlns:a16="http://schemas.microsoft.com/office/drawing/2014/main" id="{78F142E2-1185-A6F7-0F04-FE0200370579}"/>
              </a:ext>
            </a:extLst>
          </p:cNvPr>
          <p:cNvSpPr/>
          <p:nvPr/>
        </p:nvSpPr>
        <p:spPr>
          <a:xfrm>
            <a:off x="502919" y="2375154"/>
            <a:ext cx="4069079" cy="82296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blurRad="203200" dist="38100" dir="8100000" algn="bl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en-SK"/>
          </a:p>
        </p:txBody>
      </p:sp>
      <p:sp>
        <p:nvSpPr>
          <p:cNvPr id="47" name="Text 36">
            <a:extLst>
              <a:ext uri="{FF2B5EF4-FFF2-40B4-BE49-F238E27FC236}">
                <a16:creationId xmlns:a16="http://schemas.microsoft.com/office/drawing/2014/main" id="{86FBBD59-2777-6256-5AE3-AB684A98EC5B}"/>
              </a:ext>
            </a:extLst>
          </p:cNvPr>
          <p:cNvSpPr/>
          <p:nvPr/>
        </p:nvSpPr>
        <p:spPr>
          <a:xfrm>
            <a:off x="640080" y="243916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</a:t>
            </a:r>
            <a:endParaRPr lang="en-US" sz="1000" dirty="0"/>
          </a:p>
        </p:txBody>
      </p:sp>
      <p:sp>
        <p:nvSpPr>
          <p:cNvPr id="48" name="Text 37">
            <a:extLst>
              <a:ext uri="{FF2B5EF4-FFF2-40B4-BE49-F238E27FC236}">
                <a16:creationId xmlns:a16="http://schemas.microsoft.com/office/drawing/2014/main" id="{2FA4D666-4B20-2C78-99EA-24D07D31BDEA}"/>
              </a:ext>
            </a:extLst>
          </p:cNvPr>
          <p:cNvSpPr/>
          <p:nvPr/>
        </p:nvSpPr>
        <p:spPr>
          <a:xfrm>
            <a:off x="640080" y="2695194"/>
            <a:ext cx="3844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Hľadá periódu signálu cez autokorelačnú diferenčnú funkciu — spoľahlivejšie ako FFT pre monofónický zvuk.</a:t>
            </a:r>
            <a:endParaRPr lang="en-US" sz="950" dirty="0"/>
          </a:p>
        </p:txBody>
      </p:sp>
      <p:sp>
        <p:nvSpPr>
          <p:cNvPr id="49" name="Shape 38">
            <a:extLst>
              <a:ext uri="{FF2B5EF4-FFF2-40B4-BE49-F238E27FC236}">
                <a16:creationId xmlns:a16="http://schemas.microsoft.com/office/drawing/2014/main" id="{089A4FF5-585B-E9F8-75EE-84A842450DD9}"/>
              </a:ext>
            </a:extLst>
          </p:cNvPr>
          <p:cNvSpPr/>
          <p:nvPr/>
        </p:nvSpPr>
        <p:spPr>
          <a:xfrm>
            <a:off x="502920" y="3271266"/>
            <a:ext cx="4069078" cy="82296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blurRad="203200" dist="38100" dir="8100000" algn="bl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en-SK"/>
          </a:p>
        </p:txBody>
      </p:sp>
      <p:sp>
        <p:nvSpPr>
          <p:cNvPr id="50" name="Text 39">
            <a:extLst>
              <a:ext uri="{FF2B5EF4-FFF2-40B4-BE49-F238E27FC236}">
                <a16:creationId xmlns:a16="http://schemas.microsoft.com/office/drawing/2014/main" id="{A7308597-3CD2-EDCA-8BB6-03B43DA8CB46}"/>
              </a:ext>
            </a:extLst>
          </p:cNvPr>
          <p:cNvSpPr/>
          <p:nvPr/>
        </p:nvSpPr>
        <p:spPr>
          <a:xfrm>
            <a:off x="640080" y="333527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Využitie</a:t>
            </a:r>
            <a:endParaRPr lang="en-US" sz="1000" dirty="0"/>
          </a:p>
        </p:txBody>
      </p:sp>
      <p:sp>
        <p:nvSpPr>
          <p:cNvPr id="51" name="Text 40">
            <a:extLst>
              <a:ext uri="{FF2B5EF4-FFF2-40B4-BE49-F238E27FC236}">
                <a16:creationId xmlns:a16="http://schemas.microsoft.com/office/drawing/2014/main" id="{9184537E-3D00-6CF6-D3F1-BCD08B8169BF}"/>
              </a:ext>
            </a:extLst>
          </p:cNvPr>
          <p:cNvSpPr/>
          <p:nvPr/>
        </p:nvSpPr>
        <p:spPr>
          <a:xfrm>
            <a:off x="640080" y="3591306"/>
            <a:ext cx="3844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Štandardne používaný v profesionálnych ladičkách, DAW softvéri a real-time pitch detekčných systémoch.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B17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Displej &amp; Ladenia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ČO VIDÍ HRÁČ A AKO VYBERÁ LADENIE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2697480" cy="138988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blurRad="203200" dist="38100" dir="8100000" algn="bl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en-SK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45720" cy="1389888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  <p:sp>
        <p:nvSpPr>
          <p:cNvPr id="7" name="Text 5"/>
          <p:cNvSpPr/>
          <p:nvPr/>
        </p:nvSpPr>
        <p:spPr>
          <a:xfrm>
            <a:off x="548640" y="11521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screen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Zobrazí sa po štarte.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Čaká na signál.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9272" y="1078992"/>
            <a:ext cx="2697480" cy="138988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blurRad="203200" dist="38100" dir="8100000" algn="bl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en-SK"/>
          </a:p>
        </p:txBody>
      </p:sp>
      <p:sp>
        <p:nvSpPr>
          <p:cNvPr id="10" name="Shape 8"/>
          <p:cNvSpPr/>
          <p:nvPr/>
        </p:nvSpPr>
        <p:spPr>
          <a:xfrm>
            <a:off x="3319272" y="1078992"/>
            <a:ext cx="45720" cy="1389888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  <p:sp>
        <p:nvSpPr>
          <p:cNvPr id="11" name="Text 9"/>
          <p:cNvSpPr/>
          <p:nvPr/>
        </p:nvSpPr>
        <p:spPr>
          <a:xfrm>
            <a:off x="3456432" y="11521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Výber ladenia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56432" y="15087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pri otočení potenciometra — ukáže zvolené ladenie.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27064" y="1078992"/>
            <a:ext cx="2697480" cy="138988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blurRad="203200" dist="38100" dir="8100000" algn="bl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en-SK"/>
          </a:p>
        </p:txBody>
      </p:sp>
      <p:sp>
        <p:nvSpPr>
          <p:cNvPr id="14" name="Shape 12"/>
          <p:cNvSpPr/>
          <p:nvPr/>
        </p:nvSpPr>
        <p:spPr>
          <a:xfrm>
            <a:off x="6227064" y="1078992"/>
            <a:ext cx="45720" cy="1389888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  <p:sp>
        <p:nvSpPr>
          <p:cNvPr id="15" name="Text 13"/>
          <p:cNvSpPr/>
          <p:nvPr/>
        </p:nvSpPr>
        <p:spPr>
          <a:xfrm>
            <a:off x="6364224" y="11521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Aktívne ladenie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64224" y="15087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+ oktáva, odchýlka v centoch, grafický ukazovateľ.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65176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Dostupné ladenia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1068746"/>
              </p:ext>
            </p:extLst>
          </p:nvPr>
        </p:nvGraphicFramePr>
        <p:xfrm>
          <a:off x="411480" y="3017520"/>
          <a:ext cx="8321040" cy="1874523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7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Ladenie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Struny  (6 → 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7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  A2  D3  G3  B3  E4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7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 Standard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Eb2  Ab2  Db3  Gb3  Bb3  Eb4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7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  A2  D3  G3  B3  E4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7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Standard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  G2  C3  F3  A3  D4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7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Dimebag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  A2  D3  G3  B3  E4  (Drop D variant)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7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  G2  C3  F3  A3  D4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8B17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B17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Fyzický produkt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TLAČENÁ KRABIČKA + MECHANIKA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846320" cy="7772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blurRad="203200" dist="38100" dir="8100000" algn="bl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en-SK"/>
          </a:p>
        </p:txBody>
      </p:sp>
      <p:sp>
        <p:nvSpPr>
          <p:cNvPr id="6" name="Text 4"/>
          <p:cNvSpPr/>
          <p:nvPr/>
        </p:nvSpPr>
        <p:spPr>
          <a:xfrm>
            <a:off x="548640" y="11338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Dizajn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4264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Inšpirovaný gitarovými pedálmi (Dunlop Dime Crybaby, Ibanez TS9, Boss DS1). Modelovaný vo Fusion 360.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1975104"/>
            <a:ext cx="4846320" cy="7772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blurRad="203200" dist="38100" dir="8100000" algn="bl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en-SK"/>
          </a:p>
        </p:txBody>
      </p:sp>
      <p:sp>
        <p:nvSpPr>
          <p:cNvPr id="9" name="Text 7"/>
          <p:cNvSpPr/>
          <p:nvPr/>
        </p:nvSpPr>
        <p:spPr>
          <a:xfrm>
            <a:off x="548640" y="2029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Obsah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23225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· USB-C · audio Jack I/O · OLED displej · potenciometer s gitarovým gombíkom · on/off switch.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2871216"/>
            <a:ext cx="4846320" cy="7772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blurRad="203200" dist="38100" dir="8100000" algn="bl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en-SK"/>
          </a:p>
        </p:txBody>
      </p:sp>
      <p:sp>
        <p:nvSpPr>
          <p:cNvPr id="12" name="Text 10"/>
          <p:cNvSpPr/>
          <p:nvPr/>
        </p:nvSpPr>
        <p:spPr>
          <a:xfrm>
            <a:off x="5486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Footswitch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2186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Flexure/living hinge priamo v tele krabičky — stlačí 6×6mm tactile tlačidlo, žiadne extra diely.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3767328"/>
            <a:ext cx="4846320" cy="7772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blurRad="203200" dist="38100" dir="8100000" algn="bl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en-SK"/>
          </a:p>
        </p:txBody>
      </p:sp>
      <p:sp>
        <p:nvSpPr>
          <p:cNvPr id="15" name="Text 13"/>
          <p:cNvSpPr/>
          <p:nvPr/>
        </p:nvSpPr>
        <p:spPr>
          <a:xfrm>
            <a:off x="548640" y="38221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Materiál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 · FDM tlač · v2 aktuálny dizajn.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32120" y="1078992"/>
            <a:ext cx="3200400" cy="3465576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blurRad="203200" dist="38100" dir="8100000" algn="bl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en-SK"/>
          </a:p>
        </p:txBody>
      </p:sp>
      <p:sp>
        <p:nvSpPr>
          <p:cNvPr id="18" name="Shape 16"/>
          <p:cNvSpPr/>
          <p:nvPr/>
        </p:nvSpPr>
        <p:spPr>
          <a:xfrm>
            <a:off x="5532120" y="1078992"/>
            <a:ext cx="3200400" cy="457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  <p:sp>
        <p:nvSpPr>
          <p:cNvPr id="19" name="Text 17"/>
          <p:cNvSpPr/>
          <p:nvPr/>
        </p:nvSpPr>
        <p:spPr>
          <a:xfrm>
            <a:off x="553212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render krabičky ]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532120" y="28163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Vlož screenshot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Fusion 360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8B17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  <p:sp>
        <p:nvSpPr>
          <p:cNvPr id="3" name="Shape 1"/>
          <p:cNvSpPr/>
          <p:nvPr/>
        </p:nvSpPr>
        <p:spPr>
          <a:xfrm>
            <a:off x="0" y="45720"/>
            <a:ext cx="365760" cy="505206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  <p:sp>
        <p:nvSpPr>
          <p:cNvPr id="4" name="Shape 2"/>
          <p:cNvSpPr/>
          <p:nvPr/>
        </p:nvSpPr>
        <p:spPr>
          <a:xfrm>
            <a:off x="365760" y="45720"/>
            <a:ext cx="45720" cy="5052060"/>
          </a:xfrm>
          <a:prstGeom prst="rect">
            <a:avLst/>
          </a:prstGeom>
          <a:solidFill>
            <a:srgbClr val="8B1700"/>
          </a:solidFill>
          <a:ln w="12700">
            <a:solidFill>
              <a:srgbClr val="8B1700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  <p:sp>
        <p:nvSpPr>
          <p:cNvPr id="5" name="Text 3"/>
          <p:cNvSpPr/>
          <p:nvPr/>
        </p:nvSpPr>
        <p:spPr>
          <a:xfrm>
            <a:off x="658368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Záver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58368" y="1005840"/>
            <a:ext cx="2651760" cy="14630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blurRad="203200" dist="38100" dir="8100000" algn="bl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en-SK"/>
          </a:p>
        </p:txBody>
      </p:sp>
      <p:sp>
        <p:nvSpPr>
          <p:cNvPr id="7" name="Shape 5"/>
          <p:cNvSpPr/>
          <p:nvPr/>
        </p:nvSpPr>
        <p:spPr>
          <a:xfrm>
            <a:off x="658368" y="1005840"/>
            <a:ext cx="2651760" cy="457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  <p:sp>
        <p:nvSpPr>
          <p:cNvPr id="8" name="Text 6"/>
          <p:cNvSpPr/>
          <p:nvPr/>
        </p:nvSpPr>
        <p:spPr>
          <a:xfrm>
            <a:off x="795528" y="10789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95528" y="166420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Spoľahlivá detekcia výšky tónu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FFT nestačilo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93008" y="1005840"/>
            <a:ext cx="2651760" cy="14630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blurRad="203200" dist="38100" dir="8100000" algn="bl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en-SK"/>
          </a:p>
        </p:txBody>
      </p:sp>
      <p:sp>
        <p:nvSpPr>
          <p:cNvPr id="11" name="Shape 9"/>
          <p:cNvSpPr/>
          <p:nvPr/>
        </p:nvSpPr>
        <p:spPr>
          <a:xfrm>
            <a:off x="3493008" y="1005840"/>
            <a:ext cx="2651760" cy="457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  <p:sp>
        <p:nvSpPr>
          <p:cNvPr id="12" name="Text 10"/>
          <p:cNvSpPr/>
          <p:nvPr/>
        </p:nvSpPr>
        <p:spPr>
          <a:xfrm>
            <a:off x="3630168" y="10789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630168" y="166420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Single-core loop, BT vypnutý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stabilný firmvér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27648" y="1005840"/>
            <a:ext cx="2651760" cy="14630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blurRad="203200" dist="38100" dir="8100000" algn="bl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en-SK"/>
          </a:p>
        </p:txBody>
      </p:sp>
      <p:sp>
        <p:nvSpPr>
          <p:cNvPr id="15" name="Shape 13"/>
          <p:cNvSpPr/>
          <p:nvPr/>
        </p:nvSpPr>
        <p:spPr>
          <a:xfrm>
            <a:off x="6327648" y="1005840"/>
            <a:ext cx="2651760" cy="457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  <p:sp>
        <p:nvSpPr>
          <p:cNvPr id="16" name="Text 14"/>
          <p:cNvSpPr/>
          <p:nvPr/>
        </p:nvSpPr>
        <p:spPr>
          <a:xfrm>
            <a:off x="6464808" y="10789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464808" y="166420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cez WebSocket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reálny čas v prehliadači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" y="2670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Čo sa podarilo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" y="3035808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Detekcia prázdnych strún s ~95–99% presnosťou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displej s 3 obrazovkami (idle, overlay výberu, aktívne ladenie)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ladení prepínateľných footswitchom + potenciometrom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prenos JSON dát na web frontend  (Šimon Štefaňák)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tlačená krabička inšpirovaná gitarovými pedálmi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615</Words>
  <Application>Microsoft Macintosh PowerPoint</Application>
  <PresentationFormat>On-screen Show (16:9)</PresentationFormat>
  <Paragraphs>115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Gitarová Ladička – ESP32</dc:title>
  <dc:subject>PptxGenJS Presentation</dc:subject>
  <dc:creator>PptxGenJS</dc:creator>
  <cp:lastModifiedBy>Rechtorik Filip</cp:lastModifiedBy>
  <cp:revision>5</cp:revision>
  <dcterms:created xsi:type="dcterms:W3CDTF">2026-06-08T07:44:41Z</dcterms:created>
  <dcterms:modified xsi:type="dcterms:W3CDTF">2026-06-08T13:54:35Z</dcterms:modified>
</cp:coreProperties>
</file>